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16"/>
    <p:sldId id="259" r:id="rId10"/>
    <p:sldId id="260" r:id="rId9"/>
    <p:sldId id="261" r:id="rId26"/>
    <p:sldId id="262" r:id="rId27"/>
    <p:sldId id="263" r:id="rId28"/>
    <p:sldId id="264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9" Type="http://schemas.openxmlformats.org/officeDocument/2006/relationships/slide" Target="slides/slide8.xml"/><Relationship Id="rId22" Type="http://schemas.openxmlformats.org/officeDocument/2006/relationships/viewProps" Target="viewProps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orcella" userId="d51ab12d-74cc-47e5-91c4-1b75f3606ced" providerId="ADAL" clId="{63AD62C6-9AAF-4CCB-A638-E6EE8EEE24EF}"/>
    <pc:docChg chg="modSld">
      <pc:chgData name="Andrea Porcella" userId="d51ab12d-74cc-47e5-91c4-1b75f3606ced" providerId="ADAL" clId="{63AD62C6-9AAF-4CCB-A638-E6EE8EEE24EF}" dt="2026-04-13T23:43:01.030" v="22" actId="20577"/>
      <pc:docMkLst>
        <pc:docMk/>
      </pc:docMkLst>
      <pc:sldChg chg="modSp mod">
        <pc:chgData name="Andrea Porcella" userId="d51ab12d-74cc-47e5-91c4-1b75f3606ced" providerId="ADAL" clId="{63AD62C6-9AAF-4CCB-A638-E6EE8EEE24EF}" dt="2026-04-13T23:43:01.030" v="22" actId="20577"/>
        <pc:sldMkLst>
          <pc:docMk/>
          <pc:sldMk cId="0" sldId="272"/>
        </pc:sldMkLst>
        <pc:spChg chg="mod">
          <ac:chgData name="Andrea Porcella" userId="d51ab12d-74cc-47e5-91c4-1b75f3606ced" providerId="ADAL" clId="{63AD62C6-9AAF-4CCB-A638-E6EE8EEE24EF}" dt="2026-04-13T23:43:01.030" v="22" actId="20577"/>
          <ac:spMkLst>
            <pc:docMk/>
            <pc:sldMk cId="0" sldId="27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80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 · GIORNO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Avanzati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multi-slot e ng-template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dinamici e host directives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librerie legacy (Splide)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e BehaviorSubject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329184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Angular 21 Avanzato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 — Componenti Avanzati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Modulo 1 (Pomeriggio G1)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514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Attività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11:30–13:00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Multi-slot, ng-template, componenti dinamici (schede 06–08)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13:00–14:00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Pranzo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14:00–14:30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directives (scheda 09)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14:30–15:30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 — ProductCard multi-slot + quick-view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15:45–16:15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Libreria legacy + Subject/BehaviorSubject (scheda 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16:15–16:50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b="1" lang="en-US" sz="9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2 — NotificationService + carousel Splide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 Dinamici — createComponent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38404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ancoraggio: ViewContainerRef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vcr = inject(ViewContainerRef);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open(product: Product)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const ref = this.vcr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.createComponent(ProductQuickView);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ref.setInput('product', product);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ref.instance.closed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.subscribe(() =&gt; ref.destroy());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cleanup: la riga che si dimentica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ngOnDestroy() { this.vcr.clear(); 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074920" y="1353312"/>
            <a:ext cx="35661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ProductQuickView (standalone)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@Component({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selector: 'app-product-quick-view',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template: `...`,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ProductQuickView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product = input.required&lt;Product&gt;();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closed = output&lt;void&gt;();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ComponentRef = handle: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setInput, instance, destroy()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3152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createComponent monta un componente a runtime — il Lab 1 lo usa per il quick-view del prodotto. Ricordare sempre destroy() / clear().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ng-template + ngTemplateOutlet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frammento inerte: non si renderizza da solo --&gt;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&lt;ng-template #rowTpl let-product&gt;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&lt;div class="row"&gt;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{{ product.name }} — {{ product.price }} €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&lt;/div&gt;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&lt;/ng-template&gt;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montaggio --&gt;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&lt;ng-container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[ngTemplateOutlet]="rowTpl"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[ngTemplateOutletContext]="{ $implicit: product }" /&gt;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let-product riceve $implicit --&gt;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074920" y="1353312"/>
            <a:ext cx="3566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lato TS: ottenere il TemplateRef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@ViewChild('rowTpl')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rowTpl!: TemplateRef&lt;unknown&gt;;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quando usarlo: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layout configurabile dal padre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righe/celle custom (liste, tabelle)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alternativa leggera ai componenti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dinamici quando serve solo markup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ng-content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proietta markup scritto dal padre, statico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ng-template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frammento riusabile, montato dove e quando vuoi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passa dati al template (let-var, $implicit)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ng-content — Projection Multi-slot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429768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product-card.html --&gt;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&lt;ng-content select="[card-badge]" /&gt;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&lt;h3&gt;{{ product().name }}&lt;/h3&gt;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&lt;ng-content /&gt;   &lt;!-- slot default --&gt;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&lt;footer&gt;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&lt;ng-content select="[card-actions]"&gt;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&lt;button&gt;Aggiungi&lt;/button&gt; &lt;!-- fallback --&gt;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&lt;/ng-content&gt;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&lt;/footer&gt;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uso: --&gt; &lt;app-product-card&gt;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&lt;span card-badge&gt;Nuovo&lt;/span&gt; &lt;/app-product-card&gt;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Multi-slot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&lt;ng-content&gt; ha il suo select — attributo, tag o classe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 di default se lo slot resta vuoto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vs @Input()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@Input per i dati, projection per il markup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Lab 1 la ProductCard viene rifattorizzata così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 multi-slot + Quick-view dinamico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14:30–15:30  (60 min)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Rifattorizza ProductCard con ng-content multi-slot (badge, azioni)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ProductQuickView e montalo con createComponent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setInput per il prodotto, destroy() alla chiusura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dal bottone "anteprima" nella home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+ Carousel Splide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16:15–16:50  (35 min) — Semi-</a:t>
            </a:r>
            <a:r>
              <a:rPr lang="en-US" sz="11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4389120" cy="219456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685800" y="1993392"/>
            <a:ext cx="41148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notification.service.ts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_toasts =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new BehaviorSubject&lt;Toast[]&gt;([]);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toasts$ = this._toasts.asObservable();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carousel.ts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zone.runOutsideAngular(() =&gt; {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new Splide('.splide').mount();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@splidejs/splide</a:t>
            </a:r>
            <a:endParaRPr lang="en-US" sz="800" dirty="0"/>
          </a:p>
          <a:p>
            <a:pPr marL="0" indent="0">
              <a:lnSpc>
                <a:spcPts val="105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20640" y="19202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costruisci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con BehaviorSubject — toast "aggiunto al carrello"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Toast con takeUntilDestroyed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Splide wrappato con NgZone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nella home — delta su product-catalog-finale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Directives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429768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direttiva riusabile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@Directive({ standalone: true })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Highlight {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color = input('#FFEBEE');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directive sul componente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@Component({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selector: 'app-product-card',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hostDirectives: [{ directive: Highlight,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inputs: ['color'] }],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ProductCard { }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Composizione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comportamento si monta sull’host, senza ereditarietà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esposti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inputs/outputs della direttiva diventano dell’host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condivisa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direttiva vive nell’injector del componente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no: logica di business o markup → componente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Legacy — Wrapping + NgZone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38404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carousel.ts — wrapper di Splide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= inject(NgZone);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splide?: Splide;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ngAfterViewInit()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this.zone.runOutsideAngular(() =&gt;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this.splide = new Splide('.splide');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this.splide.mount();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ngOnDestroy() { this.splide?.destroy(); 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074920" y="1353312"/>
            <a:ext cx="3566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rientrare in zona quando serve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this.splide.on('moved', (i) =&gt;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this.zone.run(() =&gt;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this.index.set(i));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@splidejs/splide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in angular.json o styles.css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il Lab 2 wrappa Splide così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runOutsideAngular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gli eventi della libreria non intasano il change detection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zone.run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rientra in zona solo quando aggiorni lo stato Angular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ngOnDestroy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distruggere sempre l’istanza della libreria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/ BehaviorSubject — Comunicazione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384048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notification.service.ts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@Injectable({ providedIn: 'root' })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NotificationService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private _toasts =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new BehaviorSubject&lt;Toast[]&gt;([]);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toasts$ = this._toasts.asObservable();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show(message: string)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this._toasts.next(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[...this._toasts.value,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{ message }]);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37760" y="128016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074920" y="1353312"/>
            <a:ext cx="35661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toast.ts — chi ascolta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 = inject(NotificationService);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toasts = signal&lt;Toast[]&gt;([]);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constructor() {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this.svc.toasts$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.pipe(takeUntilDestroyed())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.subscribe(t =&gt; this.toasts.set(t));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Subject: bus eventi, nessun valore iniziale</a:t>
            </a:r>
            <a:endParaRPr lang="en-US" sz="85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BehaviorSubject: conserva lo stato corrente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3152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Subject/BehaviorSubject per comunicare tra componenti non imparentati; signal per lo stato locale. Il Lab 2 costruisce così i toast del carrello.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</Words>
  <Application>Microsoft Office PowerPoint</Application>
  <PresentationFormat>Presentazione su schermo 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Andrea Porcella</cp:lastModifiedBy>
  <cp:revision>1</cp:revision>
  <dcterms:created xsi:type="dcterms:W3CDTF">2026-04-13T23:38:32Z</dcterms:created>
  <dcterms:modified xsi:type="dcterms:W3CDTF">2026-04-13T23:43:06Z</dcterms:modified>
</cp:coreProperties>
</file>